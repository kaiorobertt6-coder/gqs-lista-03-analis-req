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Barlow" panose="00000500000000000000" pitchFamily="2" charset="0"/>
      <p:regular r:id="rId12"/>
    </p:embeddedFont>
    <p:embeddedFont>
      <p:font typeface="Barlow Bold" panose="00000800000000000000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Spline Sans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54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2680-EC8A-28A9-1EAB-BB2BAD0E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D6016-6C28-5ED6-9C1B-904D891BC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E93F4-B088-15D3-54D6-F29C264C4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11A32-D6D5-4851-8907-96ECDE89B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62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142802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GOTA6 – Monitoramento Inteligente de Água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125762"/>
            <a:ext cx="10751670" cy="88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Garantia da Qualidade de Software</a:t>
            </a:r>
            <a:endParaRPr lang="en-US" sz="16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Professor: Daniel Henrique Matos de Paiva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0012" y="3298329"/>
            <a:ext cx="10751670" cy="25400"/>
          </a:xfrm>
          <a:prstGeom prst="roundRect">
            <a:avLst>
              <a:gd name="adj" fmla="val 49999"/>
            </a:avLst>
          </a:prstGeom>
          <a:solidFill>
            <a:srgbClr val="E0E4E6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71883" y="3606502"/>
            <a:ext cx="5421177" cy="2108597"/>
          </a:xfrm>
          <a:prstGeom prst="roundRect">
            <a:avLst>
              <a:gd name="adj" fmla="val 23417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558" y="3812183"/>
            <a:ext cx="50098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Integrantes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7558" y="4303613"/>
            <a:ext cx="5009826" cy="1131491"/>
          </a:xfrm>
          <a:prstGeom prst="rect">
            <a:avLst/>
          </a:prstGeom>
          <a:noFill/>
          <a:ln/>
        </p:spPr>
        <p:txBody>
          <a:bodyPr wrap="square" lIns="0" tIns="82294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Ícaro Ferreira de Oliveira – 325111358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Kaio Robertt Moreira Abreu – 32510906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Erick Mello Nogueira – 326211590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3115" y="3791645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UNA – Centro Universitário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3115" y="4352230"/>
            <a:ext cx="5124917" cy="1131491"/>
          </a:xfrm>
          <a:prstGeom prst="roundRect">
            <a:avLst>
              <a:gd name="adj" fmla="val 27274"/>
            </a:avLst>
          </a:prstGeom>
          <a:solidFill>
            <a:srgbClr val="00805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791" y="4670623"/>
            <a:ext cx="257169" cy="205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21634" y="4588768"/>
            <a:ext cx="425072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Projeto acadêmico voltado à sustentabilidade hídrica e conformidade com a </a:t>
            </a:r>
            <a:r>
              <a:rPr lang="en-US" sz="16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ODS 6</a:t>
            </a: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da ONU.</a:t>
            </a:r>
            <a:endParaRPr lang="en-US" sz="16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1407098-DA66-27D0-0277-0BFD09FBF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65745"/>
            <a:ext cx="642525" cy="156270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25" y="602754"/>
            <a:ext cx="82250" cy="822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051" y="596602"/>
            <a:ext cx="1005358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CONTEXTO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720012" y="742553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Problema e Escopo da Solução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12" y="1163241"/>
            <a:ext cx="5250426" cy="52505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0963" y="1379283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221256" y="1873139"/>
            <a:ext cx="5250426" cy="509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O monitoramento de água é feito apenas </a:t>
            </a:r>
            <a:r>
              <a:rPr lang="en-US" sz="1400" b="1" dirty="0">
                <a:solidFill>
                  <a:srgbClr val="E0E4E6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mensalmente</a:t>
            </a:r>
            <a: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, impedindo a identificação precoce de desperdícios e vazamentos.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160670" y="2986240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Solução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6160670" y="3403465"/>
            <a:ext cx="5311012" cy="269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Aplicativo com </a:t>
            </a:r>
            <a:r>
              <a:rPr lang="en-US" sz="1400" b="1" dirty="0">
                <a:solidFill>
                  <a:srgbClr val="16FFBB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OCR integrado</a:t>
            </a:r>
            <a: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 para registrar leituras do </a:t>
            </a:r>
            <a:r>
              <a:rPr lang="en-US" sz="1400" dirty="0" err="1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hidrômetro</a:t>
            </a:r>
            <a:b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</a:br>
            <a: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 via câmera, em tempo real.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190963" y="4294836"/>
            <a:ext cx="5250426" cy="41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Escopo Funcional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221256" y="4757754"/>
            <a:ext cx="5250426" cy="720964"/>
          </a:xfrm>
          <a:prstGeom prst="rect">
            <a:avLst/>
          </a:prstGeom>
          <a:noFill/>
          <a:ln/>
        </p:spPr>
        <p:txBody>
          <a:bodyPr wrap="square" lIns="0" tIns="41147" rIns="0" bIns="0" rtlCol="0" anchor="t">
            <a:normAutofit/>
          </a:bodyPr>
          <a:lstStyle/>
          <a:p>
            <a:pPr marL="162560" indent="-1625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Conta e residência com número de moradores</a:t>
            </a:r>
            <a:endParaRPr lang="en-US" sz="1400" dirty="0">
              <a:latin typeface="Aptos" panose="020B0004020202020204" pitchFamily="34" charset="0"/>
            </a:endParaRPr>
          </a:p>
          <a:p>
            <a:pPr marL="162560" indent="-1625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Registro por foto ou entrada manual</a:t>
            </a:r>
            <a:endParaRPr lang="en-US" sz="1400" dirty="0">
              <a:latin typeface="Aptos" panose="020B0004020202020204" pitchFamily="34" charset="0"/>
            </a:endParaRPr>
          </a:p>
          <a:p>
            <a:pPr marL="162560" indent="-16256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Aptos" panose="020B0004020202020204" pitchFamily="34" charset="0"/>
                <a:ea typeface="Barlow" pitchFamily="34" charset="-122"/>
                <a:cs typeface="Barlow" pitchFamily="34" charset="-120"/>
              </a:rPr>
              <a:t>Cálculo automático, dashboard e histórico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A703DE6-DF4C-D763-2970-789B133BD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600968"/>
            <a:ext cx="2263024" cy="307677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53" y="673795"/>
            <a:ext cx="161921" cy="1619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335" y="661690"/>
            <a:ext cx="2386846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REQUISITOS FUNCIONAIS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20012" y="988318"/>
            <a:ext cx="10751670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Principais Requisitos Funcionais e Fluxo Crítico</a:t>
            </a:r>
            <a:endParaRPr lang="en-US" sz="3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1849834"/>
            <a:ext cx="5276123" cy="21039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6174" y="1979613"/>
            <a:ext cx="30370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4"/>
          <p:cNvSpPr/>
          <p:nvPr/>
        </p:nvSpPr>
        <p:spPr>
          <a:xfrm>
            <a:off x="947912" y="2682081"/>
            <a:ext cx="4820323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Conta e Residência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47912" y="3082925"/>
            <a:ext cx="482032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RF01–02: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Criar conta e configurar residência com número de moradores.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5461" y="1849834"/>
            <a:ext cx="5276222" cy="21039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1721" y="1979613"/>
            <a:ext cx="30370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350" dirty="0"/>
          </a:p>
        </p:txBody>
      </p:sp>
      <p:sp>
        <p:nvSpPr>
          <p:cNvPr id="12" name="Text 7"/>
          <p:cNvSpPr/>
          <p:nvPr/>
        </p:nvSpPr>
        <p:spPr>
          <a:xfrm>
            <a:off x="6423360" y="2682081"/>
            <a:ext cx="4820422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Registro de Leitura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423360" y="3082925"/>
            <a:ext cx="4820422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RF03–05: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Registrar leitura via foto OCR ou entrada manual e confirmar o valor capturado.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4153098"/>
            <a:ext cx="5276123" cy="21039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06174" y="4282877"/>
            <a:ext cx="30370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350" dirty="0"/>
          </a:p>
        </p:txBody>
      </p:sp>
      <p:sp>
        <p:nvSpPr>
          <p:cNvPr id="16" name="Text 10"/>
          <p:cNvSpPr/>
          <p:nvPr/>
        </p:nvSpPr>
        <p:spPr>
          <a:xfrm>
            <a:off x="947912" y="4985345"/>
            <a:ext cx="4820323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Dashboard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947912" y="5386189"/>
            <a:ext cx="482032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RF06–07: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Calcular consumo automaticamente e exibir dashboard visual interativo.</a:t>
            </a:r>
            <a:endParaRPr lang="en-US" sz="15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5461" y="4153098"/>
            <a:ext cx="5276222" cy="210393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1721" y="4282877"/>
            <a:ext cx="30370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350" dirty="0"/>
          </a:p>
        </p:txBody>
      </p:sp>
      <p:sp>
        <p:nvSpPr>
          <p:cNvPr id="20" name="Text 13"/>
          <p:cNvSpPr/>
          <p:nvPr/>
        </p:nvSpPr>
        <p:spPr>
          <a:xfrm>
            <a:off x="6423360" y="4985345"/>
            <a:ext cx="4820422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Alertas e Histórico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6423360" y="5386189"/>
            <a:ext cx="4820422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RF08–09: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Histórico com gráficos e alerta de consumo excessivo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&gt;110 L/dia/pessoa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5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33FEBA8-7EBF-9B7A-139D-1CF7E0A997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4696718"/>
            <a:ext cx="5152301" cy="1388963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F238F6B3-CFB7-0848-83A1-2CE0B53298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687" y="1850232"/>
            <a:ext cx="2494595" cy="2197695"/>
          </a:xfrm>
          <a:prstGeom prst="rect">
            <a:avLst/>
          </a:prstGeom>
        </p:spPr>
      </p:pic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1E7F8683-F76F-D0AB-544B-693363D84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1466" y="1869678"/>
            <a:ext cx="2494595" cy="219769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20012" y="588764"/>
            <a:ext cx="1183352" cy="27840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944" y="654645"/>
            <a:ext cx="146542" cy="146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9708" y="643731"/>
            <a:ext cx="135331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QUALIDADE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20012" y="932359"/>
            <a:ext cx="1075167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Requisitos Não Funcionais e Metas de Qualidade</a:t>
            </a:r>
            <a:endParaRPr lang="en-US" sz="3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1869678"/>
            <a:ext cx="5152301" cy="13889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9708" y="4905274"/>
            <a:ext cx="4633598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Twemoji Mozilla" pitchFamily="34" charset="-122"/>
                <a:cs typeface="Twemoji Mozilla" pitchFamily="34" charset="-120"/>
              </a:rPr>
              <a:t>🎨</a:t>
            </a: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Usabilidade </a:t>
            </a:r>
            <a:r>
              <a:rPr lang="en-US" sz="16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(Alta)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49708" y="5225061"/>
            <a:ext cx="4689355" cy="692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Interface clara, intuitiva e compreensível para todos os perfis de usuário.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12" y="3421757"/>
            <a:ext cx="5152301" cy="11118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0163" y="3630315"/>
            <a:ext cx="4633598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Desempenho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30163" y="4047927"/>
            <a:ext cx="4633598" cy="277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 carregado em até </a:t>
            </a: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 segundos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após solicitação.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976486" y="2098551"/>
            <a:ext cx="2057446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Twemoji Mozilla"/>
                <a:cs typeface="Spline Sans Bold" pitchFamily="34" charset="-120"/>
              </a:rPr>
              <a:t>Segurança</a:t>
            </a: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16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(Alta)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76486" y="2338661"/>
            <a:ext cx="4687275" cy="78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Acesso restrito exclusivamente a usuários autorizados e autenticados.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6579039" y="2118345"/>
            <a:ext cx="1975892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Disponibilidade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635882" y="2713962"/>
            <a:ext cx="1975892" cy="8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SLA de </a:t>
            </a: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99%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mensal garantido para o serviço em produção.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9381974" y="2118345"/>
            <a:ext cx="1975892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Privacidade / LGPD </a:t>
            </a:r>
            <a:r>
              <a:rPr lang="en-US" sz="16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(Alta)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9381974" y="2780870"/>
            <a:ext cx="1975892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Dados pessoais protegidos e tratados em conformidade com a legislação brasileira.</a:t>
            </a:r>
            <a:endParaRPr lang="en-US" sz="1400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8214B365-0BFD-944F-60CD-AE828C4D75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290E1-C2AF-DFD5-14A9-FD9754EB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343BA0-D0D9-E550-9805-7B13CE72FB78}"/>
              </a:ext>
            </a:extLst>
          </p:cNvPr>
          <p:cNvSpPr/>
          <p:nvPr/>
        </p:nvSpPr>
        <p:spPr>
          <a:xfrm>
            <a:off x="675662" y="625872"/>
            <a:ext cx="10751670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50" b="1" dirty="0" err="1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Diagrama</a:t>
            </a: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2350" b="1" dirty="0" err="1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Entidade</a:t>
            </a: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-Relacionamento (DER)</a:t>
            </a:r>
            <a:endParaRPr lang="en-US" sz="23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2D24A73-C134-EE63-5FE1-67F508B25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244" y="1201575"/>
            <a:ext cx="6812130" cy="2878859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93E9A2D-3B43-D636-E06B-D631645C6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  <p:sp>
        <p:nvSpPr>
          <p:cNvPr id="26" name="Text 1">
            <a:extLst>
              <a:ext uri="{FF2B5EF4-FFF2-40B4-BE49-F238E27FC236}">
                <a16:creationId xmlns:a16="http://schemas.microsoft.com/office/drawing/2014/main" id="{8E1F2538-217F-194C-8004-8DD7E7BF6FFB}"/>
              </a:ext>
            </a:extLst>
          </p:cNvPr>
          <p:cNvSpPr/>
          <p:nvPr/>
        </p:nvSpPr>
        <p:spPr>
          <a:xfrm>
            <a:off x="720012" y="4281190"/>
            <a:ext cx="10751670" cy="299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Entidades Principais</a:t>
            </a:r>
            <a:endParaRPr lang="en-US" sz="185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A48338D9-F159-1B5E-4CA0-8C8A3225449F}"/>
              </a:ext>
            </a:extLst>
          </p:cNvPr>
          <p:cNvSpPr/>
          <p:nvPr/>
        </p:nvSpPr>
        <p:spPr>
          <a:xfrm>
            <a:off x="720012" y="4713982"/>
            <a:ext cx="5331485" cy="714772"/>
          </a:xfrm>
          <a:prstGeom prst="roundRect">
            <a:avLst>
              <a:gd name="adj" fmla="val 28334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8FE705F9-0770-950E-6B14-BBE9E5696597}"/>
              </a:ext>
            </a:extLst>
          </p:cNvPr>
          <p:cNvSpPr/>
          <p:nvPr/>
        </p:nvSpPr>
        <p:spPr>
          <a:xfrm>
            <a:off x="867646" y="4861620"/>
            <a:ext cx="503621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Usuário</a:t>
            </a:r>
            <a:endParaRPr lang="en-US" sz="115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E72BC942-481E-7EC1-3EC2-F61C053A9FD9}"/>
              </a:ext>
            </a:extLst>
          </p:cNvPr>
          <p:cNvSpPr/>
          <p:nvPr/>
        </p:nvSpPr>
        <p:spPr>
          <a:xfrm>
            <a:off x="867646" y="5102225"/>
            <a:ext cx="5036218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Cadastro principal com dados de acesso e endereço.</a:t>
            </a:r>
            <a:endParaRPr lang="en-US" sz="1050" dirty="0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697C9C72-689C-EBCC-AD22-D689A1F9BECD}"/>
              </a:ext>
            </a:extLst>
          </p:cNvPr>
          <p:cNvSpPr/>
          <p:nvPr/>
        </p:nvSpPr>
        <p:spPr>
          <a:xfrm>
            <a:off x="6140098" y="4713982"/>
            <a:ext cx="5331585" cy="714772"/>
          </a:xfrm>
          <a:prstGeom prst="roundRect">
            <a:avLst>
              <a:gd name="adj" fmla="val 28334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F900DD99-1D89-73B6-1667-A89392B46F31}"/>
              </a:ext>
            </a:extLst>
          </p:cNvPr>
          <p:cNvSpPr/>
          <p:nvPr/>
        </p:nvSpPr>
        <p:spPr>
          <a:xfrm>
            <a:off x="6287732" y="4861620"/>
            <a:ext cx="503631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Histórico</a:t>
            </a:r>
            <a:endParaRPr lang="en-US" sz="115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8663D5E4-2E9F-AE72-4A14-9F414C53AA25}"/>
              </a:ext>
            </a:extLst>
          </p:cNvPr>
          <p:cNvSpPr/>
          <p:nvPr/>
        </p:nvSpPr>
        <p:spPr>
          <a:xfrm>
            <a:off x="6287732" y="5102225"/>
            <a:ext cx="50363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Registros de medições, consumo por período e alertas.</a:t>
            </a:r>
            <a:endParaRPr lang="en-US" sz="105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E45561A4-0DC5-7E8C-63EA-AAAEEF29A074}"/>
              </a:ext>
            </a:extLst>
          </p:cNvPr>
          <p:cNvSpPr/>
          <p:nvPr/>
        </p:nvSpPr>
        <p:spPr>
          <a:xfrm>
            <a:off x="720012" y="5517356"/>
            <a:ext cx="5331485" cy="714772"/>
          </a:xfrm>
          <a:prstGeom prst="roundRect">
            <a:avLst>
              <a:gd name="adj" fmla="val 28334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04CB7CF9-C04D-C9D9-6B0C-5A5CDCC19F8D}"/>
              </a:ext>
            </a:extLst>
          </p:cNvPr>
          <p:cNvSpPr/>
          <p:nvPr/>
        </p:nvSpPr>
        <p:spPr>
          <a:xfrm>
            <a:off x="867646" y="5664994"/>
            <a:ext cx="503621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Relacionamento</a:t>
            </a:r>
            <a:endParaRPr lang="en-US" sz="11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8D7BA2E5-E944-8397-DA0A-4259A60FE8C0}"/>
              </a:ext>
            </a:extLst>
          </p:cNvPr>
          <p:cNvSpPr/>
          <p:nvPr/>
        </p:nvSpPr>
        <p:spPr>
          <a:xfrm>
            <a:off x="867646" y="5905599"/>
            <a:ext cx="5036218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 usuário pode possuir vários históricos de leitura.</a:t>
            </a:r>
            <a:endParaRPr lang="en-US" sz="105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08023837-06E6-251D-D0BA-79FC567741E4}"/>
              </a:ext>
            </a:extLst>
          </p:cNvPr>
          <p:cNvSpPr/>
          <p:nvPr/>
        </p:nvSpPr>
        <p:spPr>
          <a:xfrm>
            <a:off x="6140098" y="5517356"/>
            <a:ext cx="5331585" cy="714772"/>
          </a:xfrm>
          <a:prstGeom prst="roundRect">
            <a:avLst>
              <a:gd name="adj" fmla="val 28334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C81FDAC3-9443-AC6E-E1C1-428D74877C63}"/>
              </a:ext>
            </a:extLst>
          </p:cNvPr>
          <p:cNvSpPr/>
          <p:nvPr/>
        </p:nvSpPr>
        <p:spPr>
          <a:xfrm>
            <a:off x="6287732" y="5664994"/>
            <a:ext cx="503631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Modelo Conceitual</a:t>
            </a:r>
            <a:endParaRPr lang="en-US" sz="115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DA70FC92-E8C2-3A87-1C91-38DD34ABCE84}"/>
              </a:ext>
            </a:extLst>
          </p:cNvPr>
          <p:cNvSpPr/>
          <p:nvPr/>
        </p:nvSpPr>
        <p:spPr>
          <a:xfrm>
            <a:off x="6287732" y="5905599"/>
            <a:ext cx="50363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Estrutura base para organizar dados operacionais e análises.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2683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609501"/>
            <a:ext cx="898503" cy="268585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75" y="673100"/>
            <a:ext cx="141383" cy="1413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00" y="662484"/>
            <a:ext cx="108393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20012" y="938808"/>
            <a:ext cx="10751670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Diagrama de Classes e Regras de Negócio</a:t>
            </a:r>
            <a:endParaRPr lang="en-US" sz="3050" dirty="0"/>
          </a:p>
        </p:txBody>
      </p:sp>
      <p:sp>
        <p:nvSpPr>
          <p:cNvPr id="21" name="Text 18"/>
          <p:cNvSpPr/>
          <p:nvPr/>
        </p:nvSpPr>
        <p:spPr>
          <a:xfrm>
            <a:off x="1434468" y="4446698"/>
            <a:ext cx="4000201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ptos" panose="020B0004020202020204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Regra de Negócio Principal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434468" y="4850518"/>
            <a:ext cx="4000201" cy="118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Consumo é classificado como </a:t>
            </a: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excessivo</a:t>
            </a: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quando ultrapassa </a:t>
            </a: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110 litros por pessoa por dia</a:t>
            </a: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sistema emite alerta visual automático no dashboard.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169263" y="4294794"/>
            <a:ext cx="19050" cy="1880890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382934" y="4916213"/>
            <a:ext cx="4265407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Fluxo resumido: </a:t>
            </a: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Usuario</a:t>
            </a: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acessa via </a:t>
            </a: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Autenticacao</a:t>
            </a: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 </a:t>
            </a: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AutomedicaoApp</a:t>
            </a: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processa, </a:t>
            </a: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Residencia</a:t>
            </a: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concentra o consumo e </a:t>
            </a: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Historico</a:t>
            </a: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registra leituras e diagnósticos.</a:t>
            </a:r>
            <a:endParaRPr lang="en-US" sz="13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3EE15254-78FE-2492-7D2B-4EB3D3355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263" y="1490662"/>
            <a:ext cx="8713164" cy="2738437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716B1988-3BC0-1C12-785F-72528FBC8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91046"/>
            <a:ext cx="1182757" cy="190500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18" y="636191"/>
            <a:ext cx="100208" cy="1002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5531" y="628650"/>
            <a:ext cx="1491617" cy="115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DESENVOLVIMENTO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720012" y="812105"/>
            <a:ext cx="1075167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Pipeline de Desenvolvimento – Git e Code Review</a:t>
            </a:r>
            <a:endParaRPr lang="en-US" sz="2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271" y="1274961"/>
            <a:ext cx="8361054" cy="38266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17364" y="4209716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CI/CD &amp; Merge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339084" y="4209716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Code Review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371554" y="4209716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Pull Request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2361019" y="4209716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Branches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59854" y="4889075"/>
            <a:ext cx="522294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Estratégia de Branches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59854" y="5240283"/>
            <a:ext cx="5222943" cy="725785"/>
          </a:xfrm>
          <a:prstGeom prst="rect">
            <a:avLst/>
          </a:prstGeom>
          <a:noFill/>
          <a:ln/>
        </p:spPr>
        <p:txBody>
          <a:bodyPr wrap="square" lIns="0" tIns="50148" rIns="0" bIns="0" rtlCol="0" anchor="t">
            <a:no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versão estável em produção</a:t>
            </a:r>
            <a:endParaRPr lang="en-US" sz="160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integração contínua</a:t>
            </a:r>
            <a:endParaRPr lang="en-US" sz="160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novas funcionalidades</a:t>
            </a:r>
            <a:endParaRPr lang="en-US" sz="1600" dirty="0"/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fix/*</a:t>
            </a: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correções de bugs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194932" y="4889075"/>
            <a:ext cx="522294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Fluxo de Code Review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194931" y="5240283"/>
            <a:ext cx="5222943" cy="1055343"/>
          </a:xfrm>
          <a:prstGeom prst="rect">
            <a:avLst/>
          </a:prstGeom>
          <a:noFill/>
          <a:ln/>
        </p:spPr>
        <p:txBody>
          <a:bodyPr wrap="square" lIns="0" tIns="50148" rIns="0" bIns="0" rtlCol="0" anchor="t">
            <a:normAutofit lnSpcReduction="10000"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500000000000000" pitchFamily="2" charset="0"/>
                <a:ea typeface="Barlow" pitchFamily="34" charset="-122"/>
                <a:cs typeface="Barlow" pitchFamily="34" charset="-120"/>
              </a:rPr>
              <a:t>PR aberto com descrição clara da mudança</a:t>
            </a:r>
            <a:endParaRPr lang="en-US" sz="1600" dirty="0">
              <a:latin typeface="Barlow" panose="00000500000000000000" pitchFamily="2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500000000000000" pitchFamily="2" charset="0"/>
                <a:ea typeface="Barlow" pitchFamily="34" charset="-122"/>
                <a:cs typeface="Barlow" pitchFamily="34" charset="-120"/>
              </a:rPr>
              <a:t>Revisão obrigatória por 1+ integrante</a:t>
            </a:r>
            <a:endParaRPr lang="en-US" sz="1600" dirty="0">
              <a:latin typeface="Barlow" panose="00000500000000000000" pitchFamily="2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500000000000000" pitchFamily="2" charset="0"/>
                <a:ea typeface="Barlow" pitchFamily="34" charset="-122"/>
                <a:cs typeface="Barlow" pitchFamily="34" charset="-120"/>
              </a:rPr>
              <a:t>Execução de testes antes do merge</a:t>
            </a:r>
            <a:endParaRPr lang="en-US" sz="1600" dirty="0">
              <a:latin typeface="Barlow" panose="00000500000000000000" pitchFamily="2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500000000000000" pitchFamily="2" charset="0"/>
                <a:ea typeface="Barlow" pitchFamily="34" charset="-122"/>
                <a:cs typeface="Barlow" pitchFamily="34" charset="-120"/>
              </a:rPr>
              <a:t>CI/CD automático valida a integração</a:t>
            </a:r>
            <a:endParaRPr lang="en-US" sz="1600" dirty="0">
              <a:latin typeface="Barlow" panose="00000500000000000000" pitchFamily="2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D3DCC827-70EF-55F6-C9B5-C0730C69C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1728589"/>
            <a:ext cx="1068559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37" y="1802606"/>
            <a:ext cx="164501" cy="164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0188" y="1790303"/>
            <a:ext cx="1184543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20012" y="212348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Estratégia de Testes e Validação de Qualidade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720012" y="3003550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14268" y="3063478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388532" y="3074194"/>
            <a:ext cx="27439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OCR — Captura e Confirmação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388532" y="3769122"/>
            <a:ext cx="2743925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Usuário fotografa o hidrômetro → sistema reconhece o valor via OCR → usuário confirma a leitura capturada.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89625" y="3003550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483881" y="3063478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5058145" y="3074194"/>
            <a:ext cx="27439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Correção de Valor OCR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058145" y="3483372"/>
            <a:ext cx="2743925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Valor reconhecido incorretamente → usuário edita manualmente → alteração salva com sucesso no sistema.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59238" y="3003550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153494" y="3063478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8727757" y="3074194"/>
            <a:ext cx="27439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Alerta de Consumo Excessivo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8727757" y="3769122"/>
            <a:ext cx="2743925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Consumo calculado supera </a:t>
            </a: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110 L/dia/pessoa</a:t>
            </a: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alerta visual é exibido automaticamente no dashboard.</a:t>
            </a:r>
            <a:endParaRPr lang="en-US" sz="160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616DFD4-3020-301D-41F0-20A23F6C4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631329"/>
            <a:ext cx="1271853" cy="283170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29" y="698302"/>
            <a:ext cx="149122" cy="149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5463" y="687189"/>
            <a:ext cx="14341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CONCLUSÃO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20012" y="982067"/>
            <a:ext cx="10751670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Conclusão e Desafios Identificados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720012" y="1922363"/>
            <a:ext cx="514843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construímos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960" y="2377083"/>
            <a:ext cx="279591" cy="2795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926" y="2371328"/>
            <a:ext cx="4542518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Proposta de valor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25926" y="2799259"/>
            <a:ext cx="454251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Monitoramento contínuo com feedback em tempo real ao usuário.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960" y="3711476"/>
            <a:ext cx="279591" cy="2795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926" y="3705721"/>
            <a:ext cx="4542518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Base técnica sólida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325926" y="4133652"/>
            <a:ext cx="454251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Requisitos, qualidade, modelo de dados e classes definidos formalmente.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9960" y="5045869"/>
            <a:ext cx="279591" cy="2795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926" y="5040114"/>
            <a:ext cx="4542518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Boas práticas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325926" y="5468045"/>
            <a:ext cx="4542518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Versionamento com Git, code review estruturado e testes automatizados.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195361" y="1753394"/>
            <a:ext cx="5416911" cy="4473178"/>
          </a:xfrm>
          <a:prstGeom prst="roundRect">
            <a:avLst>
              <a:gd name="adj" fmla="val 10003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1"/>
          <p:cNvSpPr/>
          <p:nvPr/>
        </p:nvSpPr>
        <p:spPr>
          <a:xfrm>
            <a:off x="6381789" y="1922363"/>
            <a:ext cx="5044056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6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Desafios à Frente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81789" y="2350294"/>
            <a:ext cx="5044056" cy="1823839"/>
          </a:xfrm>
          <a:prstGeom prst="rect">
            <a:avLst/>
          </a:prstGeom>
          <a:noFill/>
          <a:ln/>
        </p:spPr>
        <p:txBody>
          <a:bodyPr wrap="square" lIns="0" tIns="74579" rIns="0" bIns="0" rtlCol="0" anchor="t">
            <a:normAutofit/>
          </a:bodyPr>
          <a:lstStyle/>
          <a:p>
            <a:pPr marL="294640" indent="-294640" algn="l">
              <a:lnSpc>
                <a:spcPct val="127000"/>
              </a:lnSpc>
              <a:buSzPct val="100000"/>
              <a:buChar char="•"/>
            </a:pPr>
            <a:r>
              <a:rPr lang="en-US" sz="14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Precisão do OCR</a:t>
            </a: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em diferentes condições de iluminação e modelos de hidrômetro</a:t>
            </a:r>
            <a:endParaRPr lang="en-US" sz="1450" dirty="0"/>
          </a:p>
          <a:p>
            <a:pPr marL="294640" indent="-294640" algn="l">
              <a:lnSpc>
                <a:spcPct val="127000"/>
              </a:lnSpc>
              <a:buSzPct val="100000"/>
              <a:buChar char="•"/>
            </a:pPr>
            <a:r>
              <a:rPr lang="en-US" sz="14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Disponibilidade 99%</a:t>
            </a: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exige infraestrutura robusta e monitoramento contínuo</a:t>
            </a:r>
            <a:endParaRPr lang="en-US" sz="1450" dirty="0"/>
          </a:p>
          <a:p>
            <a:pPr marL="294640" indent="-294640" algn="l">
              <a:lnSpc>
                <a:spcPct val="127000"/>
              </a:lnSpc>
              <a:buSzPct val="100000"/>
              <a:buChar char="•"/>
            </a:pPr>
            <a:r>
              <a:rPr lang="en-US" sz="14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Conformidade LGPD</a:t>
            </a: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requer revisão constante de políticas de privacidade e segurança de dados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381789" y="4364137"/>
            <a:ext cx="5044056" cy="1249859"/>
          </a:xfrm>
          <a:prstGeom prst="roundRect">
            <a:avLst>
              <a:gd name="adj" fmla="val 22376"/>
            </a:avLst>
          </a:prstGeom>
          <a:solidFill>
            <a:srgbClr val="00805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216" y="4625975"/>
            <a:ext cx="233059" cy="1864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87703" y="4562673"/>
            <a:ext cx="4251715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desafio foi antecipado nos requisitos não funcionais e será endereçado nas próximas iterações do projeto.</a:t>
            </a:r>
            <a:endParaRPr lang="en-US" sz="145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4784D098-F67C-F030-958F-168166A6F9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574" y="6334052"/>
            <a:ext cx="3772426" cy="523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654</Words>
  <Application>Microsoft Office PowerPoint</Application>
  <PresentationFormat>Widescreen</PresentationFormat>
  <Paragraphs>111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Consolas</vt:lpstr>
      <vt:lpstr>Arial</vt:lpstr>
      <vt:lpstr>Spline Sans Bold</vt:lpstr>
      <vt:lpstr>Barlow</vt:lpstr>
      <vt:lpstr>Aptos</vt:lpstr>
      <vt:lpstr>Barlow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Erick Mello</cp:lastModifiedBy>
  <cp:revision>4</cp:revision>
  <dcterms:created xsi:type="dcterms:W3CDTF">2026-08-26T23:00:41Z</dcterms:created>
  <dcterms:modified xsi:type="dcterms:W3CDTF">2026-08-26T23:58:37Z</dcterms:modified>
</cp:coreProperties>
</file>